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3128" y="1234440"/>
            <a:ext cx="3291840" cy="384048"/>
          </a:xfrm>
          <a:prstGeom prst="roundRect">
            <a:avLst>
              <a:gd name="adj" fmla="val 40000"/>
            </a:avLst>
          </a:prstGeom>
          <a:solidFill>
            <a:srgbClr val="2A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1252728"/>
            <a:ext cx="3291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FDCF0"/>
                </a:solidFill>
                <a:latin typeface="Microsoft JhengHei"/>
              </a:rPr>
              <a:t>LINE 群組對話紀錄分析報告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60152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JhengHei"/>
              </a:rPr>
              <a:t>「靠北滑步車」群組話題完整解析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853135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CFDCF0"/>
                </a:solidFill>
                <a:latin typeface="Microsoft JhengHei"/>
              </a:rPr>
              <a:t>一份讓完全不了解事件始末的人，也能快速掌握整個群組在討論什麼、</a:t>
            </a:r>
          </a:p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CFDCF0"/>
                </a:solidFill>
                <a:latin typeface="Microsoft JhengHei"/>
              </a:rPr>
              <a:t>誰跟誰有關聯、事件如何環環相扣的說明報告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0927" y="4160520"/>
            <a:ext cx="3200400" cy="713232"/>
          </a:xfrm>
          <a:prstGeom prst="roundRect">
            <a:avLst>
              <a:gd name="adj" fmla="val 15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4233672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FB4E8"/>
                </a:solidFill>
                <a:latin typeface="Microsoft JhengHei"/>
              </a:rPr>
              <a:t>群組性質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4507992"/>
            <a:ext cx="3200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台灣滑步車家長匿名靠北群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647" y="4160520"/>
            <a:ext cx="3200400" cy="713232"/>
          </a:xfrm>
          <a:prstGeom prst="roundRect">
            <a:avLst>
              <a:gd name="adj" fmla="val 15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647" y="4233672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FB4E8"/>
                </a:solidFill>
                <a:latin typeface="Microsoft JhengHei"/>
              </a:rPr>
              <a:t>紀錄期間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4507992"/>
            <a:ext cx="3200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2026/09/24 – 10/15（22 天）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0367" y="4160520"/>
            <a:ext cx="3200400" cy="713232"/>
          </a:xfrm>
          <a:prstGeom prst="roundRect">
            <a:avLst>
              <a:gd name="adj" fmla="val 15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0367" y="4233672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FB4E8"/>
                </a:solidFill>
                <a:latin typeface="Microsoft JhengHei"/>
              </a:rPr>
              <a:t>對話總量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0367" y="4507992"/>
            <a:ext cx="3200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約 3,886 行／數千則訊息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3601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C542"/>
                </a:solidFill>
                <a:latin typeface="Microsoft JhengHei"/>
              </a:rPr>
              <a:t>主線事件：萌小孩（藍色車隊）與招牌選手「泳萱媽媽」的公開決裂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FB8DC"/>
                </a:solidFill>
                <a:latin typeface="Microsoft JhengHei"/>
              </a:rPr>
              <a:t>附：賽後加報爭議 ｜ 檢舉場地與封鎖線謠言 ｜ 滑步車生態衰退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一句話總結（先看這裡）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給完全沒跟上的人：以下三段就是整個群組 3 週內發生的事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2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11274552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100584" cy="11704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362456"/>
            <a:ext cx="3108960" cy="347472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380744"/>
            <a:ext cx="31089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6FEB"/>
                </a:solidFill>
                <a:latin typeface="Microsoft JhengHei"/>
              </a:rPr>
              <a:t>① 群組是什麼？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「靠北滑步車」是台灣滑步車運動圈家長／教練的匿名靠北群，成員以幼兒滑步車選手家長為主，</a:t>
            </a:r>
          </a:p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用暱稱或匿名代號發言，專門吐槽、分享賽事資訊、八卦車隊恩怨。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9464"/>
            <a:ext cx="1127455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100584" cy="16002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697480"/>
            <a:ext cx="3108960" cy="347472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15768"/>
            <a:ext cx="31089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42318"/>
                </a:solidFill>
                <a:latin typeface="Microsoft JhengHei"/>
              </a:rPr>
              <a:t>② 這 3 週最大的事件？（主線）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18104"/>
            <a:ext cx="10698480" cy="9784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南部「萌小孩（萌學園／藍色車隊）」招牌選手「泳萱」的媽媽與教練團決裂。她在 Threads 連日發文，</a:t>
            </a:r>
          </a:p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指控教練「說免費卻說我沒付錢、欠錢不還、造謠、踢我出群」，並呼籲檢舉教練在公園違規上課。</a:t>
            </a:r>
          </a:p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風波延燒到本群後引爆 3 天論戰：本尊現身對決、護衛隊匿名放火秒退、場地封鎖線謠言被實地查證。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34256"/>
            <a:ext cx="1127455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34256"/>
            <a:ext cx="100584" cy="141732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462272"/>
            <a:ext cx="3108960" cy="347472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31089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54708"/>
                </a:solidFill>
                <a:latin typeface="Microsoft JhengHei"/>
              </a:rPr>
              <a:t>③ 另外三條故事線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82896"/>
            <a:ext cx="10698480" cy="7955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一、9/29「酸酸爸」靠北「看完名單才加報」不公平，引發實力派 vs 公平派辯論；</a:t>
            </a:r>
          </a:p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二、「9527」力推沖繩 RIR2026、飛翔竹北站，「破 400 人剃光頭」真的剃了；</a:t>
            </a:r>
          </a:p>
          <a:p>
            <a:pPr algn="l">
              <a:lnSpc>
                <a:spcPct val="12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三、群友共識：參賽人數逐年下滑、場地被檢舉越來越少、車隊決裂「輪迴」不斷重演。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群組輪廓：這是個什麼樣的地方？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理解群組性質，才能理解為什麼對話裡充滿「吃瓜、帶風向、護衛隊」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3 /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2194560" cy="658368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群組名稱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234440"/>
            <a:ext cx="907999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234440"/>
            <a:ext cx="8869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靠北滑步車（滑步車圈的匿名靠北／閒聊群）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92808"/>
            <a:ext cx="2194560" cy="658368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92808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成員組成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892808"/>
            <a:ext cx="9079992" cy="658368"/>
          </a:xfrm>
          <a:prstGeom prst="rect">
            <a:avLst/>
          </a:prstGeom>
          <a:solidFill>
            <a:srgbClr val="FAFBFE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892808"/>
            <a:ext cx="8869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幼兒滑步車選手家長為主，少數教練、車隊相關人士、裝備業者；成員眾多且流動高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51176"/>
            <a:ext cx="2194560" cy="658368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51176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發言文化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551176"/>
            <a:ext cx="907999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8869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多數人用暱稱或匿名代號（9527、天龍騷年、叫你阿嬤來跑…），靠北、幹話、吃瓜、梗圖齊飛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9544"/>
            <a:ext cx="2194560" cy="658368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9544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管理機制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209544"/>
            <a:ext cx="9079992" cy="658368"/>
          </a:xfrm>
          <a:prstGeom prst="rect">
            <a:avLst/>
          </a:prstGeom>
          <a:solidFill>
            <a:srgbClr val="FAFBFE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209544"/>
            <a:ext cx="8869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有「管理員」與「小幫手」帳號；10/07、10/15 兩次公告「本群明天要刪除，請加入新群」，顯示群組定期搬家以維持匿名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67912"/>
            <a:ext cx="2194560" cy="658368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67912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涵蓋範圍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867912"/>
            <a:ext cx="907999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867912"/>
            <a:ext cx="8869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全台（北中南東）皆有人；話題橫跨賽事資訊、車隊恩怨、裝備花費、教練八卦、場地合法性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2ECFD"/>
          </a:solidFill>
          <a:ln w="15240">
            <a:solidFill>
              <a:srgbClr val="D4C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941C6"/>
                </a:solidFill>
                <a:latin typeface="Microsoft JhengHei"/>
              </a:rPr>
              <a:t>★ 讀這份報告前的心理準備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30368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這個群組沒有絕對真相。多數爭議都是「羅生門」——當事人各說各話、旁觀者靠「聽說」補充、匿名帳號突然進來放火又消失。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本報告的任務是忠實整理各方說法與群組內的風向變化，而非判定誰對誰錯。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總時間軸：22 天內發生了什麼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紅＝主線大事件 ｜ 橘＝次級衝突 ｜ 藍＝一般話題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4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16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1188720"/>
            <a:ext cx="1417320" cy="457200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18872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09/24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188720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188720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西螺鎮長盃名單詢問，群組日常閒聊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8470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1719072"/>
            <a:ext cx="1417320" cy="45720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54708"/>
                </a:solidFill>
                <a:latin typeface="Microsoft JhengHei"/>
              </a:rPr>
              <a:t>09/29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719072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1719072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事件一：酸酸爸靠北「賽後加報」，公平 vs 實力大辯論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2249424"/>
            <a:ext cx="1417320" cy="457200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249424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09/30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249424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2249424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滑步車花費專題：一年 60 萬 vs 各運動比較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9077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2779776"/>
            <a:ext cx="1417320" cy="457200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2779776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10/04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779776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2779776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9527 剃光頭豪賭：竹北站 1 小時衝 400 人次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438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3310128"/>
            <a:ext cx="1417320" cy="457200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310128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10/05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310128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310128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沖繩 RIR2026 報名宣傳、Team Taiwan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9684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3840480"/>
            <a:ext cx="1417320" cy="4572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840480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42318"/>
                </a:solidFill>
                <a:latin typeface="Microsoft JhengHei"/>
              </a:rPr>
              <a:t>10/13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840480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3840480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★ 事件二引爆：Threads 爆料文丟進群 → 護衛隊現身秒退 → 本尊現身貼截圖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498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4370832"/>
            <a:ext cx="1417320" cy="4572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370832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42318"/>
                </a:solidFill>
                <a:latin typeface="Microsoft JhengHei"/>
              </a:rPr>
              <a:t>10/13–14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4370832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4370832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★ 借錢爭議、打小孩指控、反方（SSS／萬聖節快樂）與中立派攻防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029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20" y="4901184"/>
            <a:ext cx="1417320" cy="45720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901184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54708"/>
                </a:solidFill>
                <a:latin typeface="Microsoft JhengHei"/>
              </a:rPr>
              <a:t>10/14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901184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4901184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事件三：傳出高雄楠梓場地被「封鎖線」封鎖，南部恐慌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559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" y="5431536"/>
            <a:ext cx="1417320" cy="457200"/>
          </a:xfrm>
          <a:prstGeom prst="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431536"/>
            <a:ext cx="1417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10/15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5431536"/>
            <a:ext cx="92354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5431536"/>
            <a:ext cx="90068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查證反轉：封鎖線是謠言；反方餘波；群組再度公告搬家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" y="1298448"/>
            <a:ext cx="25400" cy="4160520"/>
          </a:xfrm>
          <a:prstGeom prst="rect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事件一：「賽後加報」公平性之爭（09/29）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小事件，但完整呈現這個圈子的價值衝突：成績主義 vs 親子運動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5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1127455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82296" cy="105156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54708"/>
                </a:solidFill>
                <a:latin typeface="Microsoft JhengHei"/>
              </a:rPr>
              <a:t>前因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64208"/>
            <a:ext cx="1090879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「酸酸爸」認真準備比賽、事先研究官方錄取名單，比賽當天卻發現有選手「臨時加報」出現在場上。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他質疑主辦單位「為了多收一個人的報名費，忽略公平性賽制」，並坦言最直接的影響是：「我可能就上不了台（凸台）了」。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95728"/>
            <a:ext cx="5532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542032"/>
            <a:ext cx="2651760" cy="365760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60320"/>
            <a:ext cx="2651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42318"/>
                </a:solidFill>
                <a:latin typeface="Microsoft JhengHei"/>
              </a:rPr>
              <a:t>挺酸酸爸（不公平派）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512064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酸酸爸：認真準備的人被突襲，主辦為錢放水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聽聽：現場加報報名費應該比較高，邏輯矛盾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天龍騷年（前段）：聽起來是「爸爸上不去」的怨氣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堅持：報名速度不一樣，這就是不公平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核心情緒：「我照規矩來，卻被走後門的人擠掉」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395728"/>
            <a:ext cx="5532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542032"/>
            <a:ext cx="3017520" cy="36576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反方（實力派／看開派）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17520"/>
            <a:ext cx="512064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叫你阿嬤來跑：「是不是被擠下凸台生氣了」，直接說出來就好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有事請教：現場本來就無法預測對手，跑不贏就多練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大人太複雜：不想被擠下凸台就卯起來練，沒毛病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9527：圈子待久了「輸贏看太重了吧」，享受親子回憶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核心主張：「跑得贏就贏，跑不贏就摸摸鼻子」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59552"/>
            <a:ext cx="11274552" cy="777240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5240">
            <a:solidFill>
              <a:srgbClr val="A9D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50992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結果：話題淡出，但確立本群討論模式——靠北文 → 立刻有人反問「你自己練夠了嗎」→ 幹話稀釋 → 事件結束。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彩蛋：酸酸爸自嘲「一下就被護衛隊帶走了」——「護衛隊」一詞在一個多月後的萌孩事件中被正式發揚光大。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事件二【主線】：萌孩決裂 — 事發背景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為什麼這件事會發生？關鍵是滑步車圈的「車隊輪迴」結構問題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6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724912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234440"/>
            <a:ext cx="2724912" cy="4572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98448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28800"/>
            <a:ext cx="250545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1D23"/>
                </a:solidFill>
                <a:latin typeface="Microsoft JhengHei"/>
              </a:rPr>
              <a:t>車隊結構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240280"/>
            <a:ext cx="250545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B6472"/>
                </a:solidFill>
                <a:latin typeface="Microsoft JhengHei"/>
              </a:rPr>
              <a:t>「萌小孩／萌學園」（藍隊）是南部家族式車隊，約 5 位教練、外號皆為動物（河馬、兔子、鯨魚、猴子＋魔術），主打小齡啟蒙，另有皮克球事業。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251460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19856" y="1234440"/>
            <a:ext cx="2724912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19856" y="1234440"/>
            <a:ext cx="2724912" cy="4572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298448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1828800"/>
            <a:ext cx="250545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1D23"/>
                </a:solidFill>
                <a:latin typeface="Microsoft JhengHei"/>
              </a:rPr>
              <a:t>招牌與資源交換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2240280"/>
            <a:ext cx="250545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B6472"/>
                </a:solidFill>
                <a:latin typeface="Microsoft JhengHei"/>
              </a:rPr>
              <a:t>泳萱是車隊招牌選手（腹肌女）。媽媽大量付出：制定隊規、辦後山盃、照顧隊員，換取輪組試用、免費跑台、免費保養等資源。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63056" y="251460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2512" y="1234440"/>
            <a:ext cx="2724912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82512" y="1234440"/>
            <a:ext cx="2724912" cy="4572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298448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28800"/>
            <a:ext cx="250545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1D23"/>
                </a:solidFill>
                <a:latin typeface="Microsoft JhengHei"/>
              </a:rPr>
              <a:t>孩子變強的矛盾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40280"/>
            <a:ext cx="250545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B6472"/>
                </a:solidFill>
                <a:latin typeface="Microsoft JhengHei"/>
              </a:rPr>
              <a:t>泳萱技術成長需要更強對手，但車隊以小齡為主且有「禁止外練」隊規——過去用來踢掉其他選手的規則，如今反噬到自己身上。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25712" y="251460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45168" y="1234440"/>
            <a:ext cx="2724912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45168" y="1234440"/>
            <a:ext cx="2724912" cy="457200"/>
          </a:xfrm>
          <a:prstGeom prst="roundRect">
            <a:avLst>
              <a:gd name="adj" fmla="val 5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8" y="1298448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1828800"/>
            <a:ext cx="250545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1D23"/>
                </a:solidFill>
                <a:latin typeface="Microsoft JhengHei"/>
              </a:rPr>
              <a:t>決裂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240280"/>
            <a:ext cx="250545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B6472"/>
                </a:solidFill>
                <a:latin typeface="Microsoft JhengHei"/>
              </a:rPr>
              <a:t>媽媽在群組提出課程問題未獲回應，被家長「小慧」自作主張踢出車隊群組。教練方始終沉默，媽媽轉往 Threads 連日發文並整理截圖。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11274552" cy="173736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15240">
            <a:solidFill>
              <a:srgbClr val="F5D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6177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54708"/>
                </a:solidFill>
                <a:latin typeface="Microsoft JhengHei"/>
              </a:rPr>
              <a:t>★ 群友「櫻萬美夕」的一針見血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010912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「當初以不能外練的規定踢掉其他選手，如今也被該條規定剔除——被自己的魔法打敗。」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群友「吵架王」進一步提出「輪迴論」：家長與教練一開始各取所需 → 小孩變強 → 跳去更強車隊 → 啟蒙教練不樂意 → 撕破臉。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A1D23"/>
                </a:solidFill>
                <a:latin typeface="Microsoft JhengHei"/>
              </a:rPr>
              <a:t>「一直以來都是這樣輪迴。」檸檬補充：「這個輪迴應該筆記一下，先給新家長們預告。」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事件二：泳萱媽媽的三大指控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整起事件的火藥庫，每一項都在群內引發數百則討論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7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1127455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100584" cy="162763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307592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325880"/>
            <a:ext cx="4206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42318"/>
                </a:solidFill>
                <a:latin typeface="Microsoft JhengHei"/>
              </a:rPr>
              <a:t>指控一：「免費」變「沒付錢」的語意戰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37360"/>
            <a:ext cx="10698480" cy="10241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媽媽表示車隊當初提供跑台等資源是「免費使用」，決裂後教練對外說法變成「她都沒付錢／沒算費用」。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群友花大量篇幅辯論：「免費送你」vs「沒跟你收錢」vs「你沒付錢」在中文語意與情感上完全不同。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沐恩點破：「『免費使用』跟『沒算費用』，兩種感覺不同。」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62656"/>
            <a:ext cx="1127455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62656"/>
            <a:ext cx="100584" cy="1627632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081528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99816"/>
            <a:ext cx="4206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54708"/>
                </a:solidFill>
                <a:latin typeface="Microsoft JhengHei"/>
              </a:rPr>
              <a:t>指控二：教練向她借錢、欠錢不還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11296"/>
            <a:ext cx="10698480" cy="10241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群友拼湊版本：教練聲稱被詐騙、向媽媽借錢周轉，最後這筆錢是教練的女朋友還的。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反方質疑：「女友身價幾億，為什麼跟一個家長借？」「為什麼只跟她借？」「有追討紀錄嗎？」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中立方：「跟錢有關必傷感情」、「當初關係好才借，現在翻舊賬」。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36592"/>
            <a:ext cx="1127455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36592"/>
            <a:ext cx="100584" cy="1627632"/>
          </a:xfrm>
          <a:prstGeom prst="rect">
            <a:avLst/>
          </a:prstGeom>
          <a:solidFill>
            <a:srgbClr val="694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855464"/>
            <a:ext cx="4206240" cy="365760"/>
          </a:xfrm>
          <a:prstGeom prst="roundRect">
            <a:avLst>
              <a:gd name="adj" fmla="val 40000"/>
            </a:avLst>
          </a:prstGeom>
          <a:solidFill>
            <a:srgbClr val="F2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73752"/>
            <a:ext cx="4206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41C6"/>
                </a:solidFill>
                <a:latin typeface="Microsoft JhengHei"/>
              </a:rPr>
              <a:t>指控三：教練方造謠、處理粗暴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10698480" cy="10241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媽媽指稱「動物家族教練們一直造謠她」，但始終沒提出任何文字或截圖證據（因為「造謠都是用說的，哪裡有截圖」）。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反方緊咬：「說被造謠，卻拿不出動物們的文字紀錄」。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踢群爭議：媽媽強調「私下問沒回應、在群組問就被踢」；SSS 則說「群組我開的，我要留誰是我的權利」。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事件二：群組攻防戰四階段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10/13 當天，本群上演了一場完整的「爆料—護航—現身—反撲」戲碼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8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188720"/>
            <a:ext cx="28346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188720"/>
            <a:ext cx="2834640" cy="841248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第一階段 08:03–12:00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57276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吃瓜起手式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194560"/>
            <a:ext cx="2578608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「史迪奇奇怪怪.」丟出 Threads 連結：「這麼靠北居然沒有上靠北」。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檸檬率先表態佩服媽媽勇氣，自曝「我就是離隊還被前車隊黑又被造謠的人」。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登登登登謹慎提醒：「目前好像沒看到教練到底說了什麼，到底有沒有造謠？」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188720"/>
            <a:ext cx="28346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46704" y="1188720"/>
            <a:ext cx="2834640" cy="841248"/>
          </a:xfrm>
          <a:prstGeom prst="roundRect">
            <a:avLst>
              <a:gd name="adj" fmla="val 5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1261872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第二階段 11:56–12:17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157276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護衛隊現身（秒退）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94560"/>
            <a:ext cx="2578608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帳號「彎道殺手」進群猛烈攻擊：「單方面報復」「跟瘋狗一樣」「她沒什麼朋友」。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群友圍剿：「好多的聽說，要人家公布你也不公布」（殭屍炒大腸）、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「連家長朋友是誰都說得出來，你應該是萌孩車隊裡的人」（海月初）。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→ 12:17 彎道殺手離開聊天，群友嘲諷「帶風向失敗」。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188720"/>
            <a:ext cx="28346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188720"/>
            <a:ext cx="2834640" cy="841248"/>
          </a:xfrm>
          <a:prstGeom prst="roundRect">
            <a:avLst>
              <a:gd name="adj" fmla="val 5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61872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第三階段 12:35–13:00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57276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本尊現身（高潮）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194560"/>
            <a:ext cx="2578608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「我就是泳萱媽媽」加入聊天：「沒錯，我就是」，直接貼出兩張截圖。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她指認：「會稱小慧的只有他、會說瘋狗的只有他——就是他把我踢群組。」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群組沸騰：「我要看到血流成河」（非洲獵人）、「你做了我很多不敢做的事」（檸檬）。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多人讚美泳萱賽場表現：「用腦袋在騎車」。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72016" y="1188720"/>
            <a:ext cx="28346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72016" y="1188720"/>
            <a:ext cx="2834640" cy="841248"/>
          </a:xfrm>
          <a:prstGeom prst="roundRect">
            <a:avLst>
              <a:gd name="adj" fmla="val 5000"/>
            </a:avLst>
          </a:prstGeom>
          <a:solidFill>
            <a:srgbClr val="694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1261872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第四階段 下午起–10/14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157276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反方與中立方反撲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2194560"/>
            <a:ext cx="2578608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SSS 替車隊辯護：「群組我開的，我要留誰是我的權利」；阿山指控「只截對自己有利的部分」。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萬聖節快樂／嗯哼／67 提出三大疑點：借錢無借據、造謠無截圖、不找教練卻上網爆料。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IVY 透露孩子「發高燒也繼續練車」，引發高壓訓練爭議。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1A1D23"/>
                </a:solidFill>
                <a:latin typeface="Microsoft JhengHei"/>
              </a:rPr>
              <a:t>後續又有「詠軒媽媽根本用訓練來掩飾自己打小孩」等帳號進群秒退，被狂酸「連屁都不敢放」。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事件二：群友的「比喻大賽」＋事後發展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理解這場決裂的最佳入口——大家都用感情關係來解釋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9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67665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325880"/>
            <a:ext cx="2926080" cy="365760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44168"/>
            <a:ext cx="2926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54708"/>
                </a:solidFill>
                <a:latin typeface="Microsoft JhengHei"/>
              </a:rPr>
              <a:t>★ 比喻大賽精選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28800"/>
            <a:ext cx="640080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「就跟情侶分手、夫妻離婚一樣。以前有多愛，看到的都是優點；分手後有多恨，看到的都是缺點。」</a:t>
            </a:r>
            <a:r>
              <a:rPr sz="1350" b="1">
                <a:solidFill>
                  <a:srgbClr val="1F6FEB"/>
                </a:solidFill>
                <a:latin typeface="Microsoft JhengHei"/>
              </a:rPr>
              <a:t>　—檸檬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87168"/>
            <a:ext cx="640080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「當下教練要捧招牌、雙方各取所需；但現在分手了，只能翻舊帳。」</a:t>
            </a:r>
            <a:r>
              <a:rPr sz="1350" b="1">
                <a:solidFill>
                  <a:srgbClr val="1F6FEB"/>
                </a:solidFill>
                <a:latin typeface="Microsoft JhengHei"/>
              </a:rPr>
              <a:t>　—櫻萬美夕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45536"/>
            <a:ext cx="640080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「愛的時候買東西說我送你，分手的時候說這是我買的，錢還我。」</a:t>
            </a:r>
            <a:r>
              <a:rPr sz="1350" b="1">
                <a:solidFill>
                  <a:srgbClr val="1F6FEB"/>
                </a:solidFill>
                <a:latin typeface="Microsoft JhengHei"/>
              </a:rPr>
              <a:t>　—海月初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4"/>
            <a:ext cx="640080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「同隊＝免費使用吃到飽；離隊＝沒算費用白嫖。」</a:t>
            </a:r>
            <a:r>
              <a:rPr sz="1350" b="1">
                <a:solidFill>
                  <a:srgbClr val="1F6FEB"/>
                </a:solidFill>
                <a:latin typeface="Microsoft JhengHei"/>
              </a:rPr>
              <a:t>　—Nobody nobody bon 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62272"/>
            <a:ext cx="640080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「愛到咖慘死的概念？最後分手變穿紅衣上吊的厲鬼。」</a:t>
            </a:r>
            <a:r>
              <a:rPr sz="1350" b="1">
                <a:solidFill>
                  <a:srgbClr val="1F6FEB"/>
                </a:solidFill>
                <a:latin typeface="Microsoft JhengHei"/>
              </a:rPr>
              <a:t>　—滑～快滑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188720"/>
            <a:ext cx="432511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07808" y="1325880"/>
            <a:ext cx="2743200" cy="36576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134416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★ 事件後續：泳萱去向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828800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群友透露泳萱疑似轉往 X 戰隊上課，或成為「自由車手」（不掛車隊、自己練自己比）。</a:t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反方質疑：「那麼優秀，離開得漂亮的話，各大車隊應該搶著要，但看起來沒有？」</a:t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也有說法：媽媽宣稱「成績是母女自己研究出來的」，卻同時私人教練課買好買滿——被批邏輯矛盾。</a:t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IVY 透露孩子訓練強度爭議：「發高燒也要繼續練車，乖到像機器人。」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5240">
            <a:solidFill>
              <a:srgbClr val="F3B8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6811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★ 核心困境：爆料方拿得出截圖，防守方拿得出沉默。沒有任何一方被完全說服，最終多數人選擇「吃瓜就好」。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　看看就走的結語代表許多人的心聲：「不管怎樣，我還是會欣賞這個孩子的比賽。其他就看看就好。」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事件三：「檢舉場地」風波與封鎖線謠言（10/14–15）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萌孩事件的延伸子線：呼籲檢舉 → 傳出場地被封 → 群友實地查證是謠言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10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82296" cy="96012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54708"/>
                </a:solidFill>
                <a:latin typeface="Microsoft JhengHei"/>
              </a:rPr>
              <a:t>背景：公園上課的合法性問題（公開的秘密）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64208"/>
            <a:ext cx="10908792" cy="3931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群內長年共識：多數滑步車教練在公園、橋下、宮廟旁等公共場地上課收費，但這些場地依法不能營利使用，也幾乎沒人付場地費或報稅。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因此「呼籲檢舉」對教練與在地車隊是極具殺傷力的武器——泳萱媽媽的檢舉呼籲被南部群友視為「玉石俱焚」。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27249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2724912" cy="420624"/>
          </a:xfrm>
          <a:prstGeom prst="roundRect">
            <a:avLst>
              <a:gd name="adj" fmla="val 5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32304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導火線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926080"/>
            <a:ext cx="2487168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泳萱媽媽在 Threads 呼籲檢舉教練在公有地違規收費上課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00400" y="310896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9856" y="2377440"/>
            <a:ext cx="27249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9856" y="2377440"/>
            <a:ext cx="2724912" cy="420624"/>
          </a:xfrm>
          <a:prstGeom prst="roundRect">
            <a:avLst>
              <a:gd name="adj" fmla="val 5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432304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謠言升級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926080"/>
            <a:ext cx="2487168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「哇哈哈哈」宣稱楠梓場地被封鎖線圍起、直排輪也沒得玩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63056" y="310896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2512" y="2377440"/>
            <a:ext cx="27249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2512" y="2377440"/>
            <a:ext cx="2724912" cy="420624"/>
          </a:xfrm>
          <a:prstGeom prst="roundRect">
            <a:avLst>
              <a:gd name="adj" fmla="val 5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432304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群友恐慌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2926080"/>
            <a:ext cx="2487168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「接下來就是天后宮、公園都不能練車了」（羊寶寶等）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25712" y="3108960"/>
            <a:ext cx="201168" cy="256032"/>
          </a:xfrm>
          <a:prstGeom prst="rightArrow">
            <a:avLst/>
          </a:prstGeom>
          <a:solidFill>
            <a:srgbClr val="C3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45168" y="2377440"/>
            <a:ext cx="27249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45168" y="2377440"/>
            <a:ext cx="2724912" cy="420624"/>
          </a:xfrm>
          <a:prstGeom prst="roundRect">
            <a:avLst>
              <a:gd name="adj" fmla="val 5000"/>
            </a:avLst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432304"/>
            <a:ext cx="2724912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查證反轉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926080"/>
            <a:ext cx="2487168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非洲獵人：我買晚餐經過，沒看到封鎖線、直排輪照樣在滑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348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5240">
            <a:solidFill>
              <a:srgbClr val="A9D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553712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67647"/>
                </a:solidFill>
                <a:latin typeface="Microsoft JhengHei"/>
              </a:rPr>
              <a:t>查證細節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3776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非洲獵人：「根據經驗，被檢舉不會拉封鎖線，用常識推論就知道」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盡力也實地確認「沒看到封鎖線」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非洲獵人怒轟：想帶風向、把無辜的 HLK 車隊（HL）拖下水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44348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E8F1FF"/>
          </a:solidFill>
          <a:ln w="1524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4553712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6FEB"/>
                </a:solidFill>
                <a:latin typeface="Microsoft JhengHei"/>
              </a:rPr>
              <a:t>歷史脈絡（櫻萬美夕補充）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93776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那塊地早年屬高雄「老鷹車隊」，被瘋狂檢舉到車隊解散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之後藍隊接手使用，反而都沒事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1D23"/>
                </a:solidFill>
                <a:latin typeface="Microsoft JhengHei"/>
              </a:rPr>
              <a:t>• 暗示檢舉背後有地盤與恩怨因素，不是單純公益正義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議題四：滑步車生態衰退的集體焦慮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散落各天對話，但其實是所有事件的共同背景音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11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325880"/>
            <a:ext cx="2560320" cy="365760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44168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42318"/>
                </a:solidFill>
                <a:latin typeface="Microsoft JhengHei"/>
              </a:rPr>
              <a:t>數據面：人數全面下滑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2880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Bixbi 從巔峰 500 人跌到 300 人（滑步車也有大喇叭）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放電盃、後山盃、光速盃人數都減少（9478、悄悄話）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日本 RCS 今年比賽人也少很多（吕布少年郎）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「同一個歲組去比賽的永遠都是這幾個」（山邊的孩子）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18872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325880"/>
            <a:ext cx="2560320" cy="365760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44168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B54708"/>
                </a:solidFill>
                <a:latin typeface="Microsoft JhengHei"/>
              </a:rPr>
              <a:t>原因診斷（群友共識）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82880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① 門檻高：一台車 4.5 萬起跳＋高強度訓練（Norman）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② 大人輸不起：「小孩贏不了就找下一個戰場」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③ 上小學自然流失：「沒上台只能被打誰還想騎」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④ 車隊恩怨勸退＋轉坑戰鬥陀螺等其他運動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745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886200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04488"/>
            <a:ext cx="32918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6FEB"/>
                </a:solidFill>
                <a:latin typeface="Microsoft JhengHei"/>
              </a:rPr>
              <a:t>花費議題的最終共識（9/30）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108356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「開心」：一年花快 60 萬，老公說可以買轎車；「檸檬」連算都不敢算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但多數人同意天龍騷年的框架：「只是運動都不貴，要培養成運動員，沒有一個是便宜的」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「舖嘛」算盤：2 歲騎到 12 歲 OP 畢業可騎 10 年，10–20 萬裝備均攤一年 1–2 萬，划算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對照國外：史迪奇奇怪怪. 指出國外名單 6 歲之後人反而更多——對照台灣早早退役的現象</a:t>
            </a:r>
          </a:p>
          <a:p>
            <a:pPr algn="l">
              <a:lnSpc>
                <a:spcPct val="132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• 檸檬：「東南亞目前正夯，因為他們還沒經歷輪迴」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人物圖譜（一）：主線當事人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只列與主要事件相關者；標籤顏色對應其在萌孩事件中的立場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12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100584" cy="11887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3"/>
                </a:solidFill>
                <a:latin typeface="Microsoft JhengHei"/>
              </a:rPr>
              <a:t>泳萱媽媽（詠萱媽）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316736"/>
            <a:ext cx="2743200" cy="310896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335024"/>
            <a:ext cx="2743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2318"/>
                </a:solidFill>
                <a:latin typeface="Microsoft JhengHei"/>
              </a:rPr>
              <a:t>爆料方・主線核心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664208"/>
            <a:ext cx="106984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萌孩前家長、招牌選手泳萱的母親。為車隊大量付出後與教練團決裂，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在 Threads 連日發文指控，並親自加入本群貼截圖對決。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關聯：決裂 → 被小慧踢群 → 傳轉往 X 戰隊 → 呼籲檢舉場地。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87168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87168"/>
            <a:ext cx="100584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78608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3"/>
                </a:solidFill>
                <a:latin typeface="Microsoft JhengHei"/>
              </a:rPr>
              <a:t>萌小孩／萌學園（藍色車隊）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615184"/>
            <a:ext cx="2743200" cy="31089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633472"/>
            <a:ext cx="2743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被爆料方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962656"/>
            <a:ext cx="106984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南部家族式車隊，約 5 位教練、外號皆為動物（河馬／兔子／鯨魚／猴子／魔術）。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主打小齡啟蒙，以招牌選手帶曝光換資源的經營模式聞名。事件中始終未公開回應。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關聯：過去有禁止外練規定與退隊潮 → 本次與泳萱家決裂。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85616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85616"/>
            <a:ext cx="100584" cy="118872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77056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3"/>
                </a:solidFill>
                <a:latin typeface="Microsoft JhengHei"/>
              </a:rPr>
              <a:t>小慧／「彎道殺手」帳號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913632"/>
            <a:ext cx="2743200" cy="310896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931920"/>
            <a:ext cx="2743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4708"/>
                </a:solidFill>
                <a:latin typeface="Microsoft JhengHei"/>
              </a:rPr>
              <a:t>車隊方・疑似護衛隊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61104"/>
            <a:ext cx="106984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泳萱媽媽指稱「把我踢群組」的人。10/13 以「彎道殺手」暱稱進群攻擊後秒退。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後續又有「泳萱媽媽會用腳踢泳萱」等攻擊帳號進群秒退，手法相同。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關聯：踢群執行者 → 進群帶風向失敗 → 引發本尊現身。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84064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84064"/>
            <a:ext cx="100584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75504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3"/>
                </a:solidFill>
                <a:latin typeface="Microsoft JhengHei"/>
              </a:rPr>
              <a:t>SSS／阿山／萬聖節快樂／嗯哼／67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5212080"/>
            <a:ext cx="2743200" cy="31089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5230368"/>
            <a:ext cx="27432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反泳萱媽媽派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06984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SSS 自稱群組管理者，主張踢人是群主權利；萬聖節快樂細數疑點（無借據、無截圖）；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嗯哼指控媽媽「用訓練掩飾打小孩」；67 曾上過萌孩課、認為初階課程很快樂。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關聯：與與檸檬、殭屍炒大腸多次交鋒，在封鎖線議題上與查證派短暫合作。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人物圖譜（二）：群內主要發聲者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中立／吃瓜／引導討論的角色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13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1887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280160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檸檬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" y="1627632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645920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力挺媽媽・經驗共鳴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965960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本身是「離隊還被前車隊黑又被造謠」的受害者，全程力挺泳萱媽媽的勇氣，也主張「吃瓜就好」。金句製造機。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1887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280160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9527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1627632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1645920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圈內老鳥・賽事推廣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1965960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滑步車圈 5–6 年資深人物，飛翔賽事推廣者、持 EMT1 救護執照。愛開幹話（剃光頭梗），常扮演「輸贏看淡」的調解角色。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0" y="11887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0" y="1280160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天龍騷年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0" y="1627632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0" y="1645920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吐槽役・情報通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0" y="1965960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幽默毒舌、消息靈通，常一句話戳中要害。對車隊經營、稅務、裝備價格都有常識級了解。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871216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2962656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史迪奇奇怪怪.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" y="3310128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328416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理性派・議題引爆者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648456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10/13 第一個把 Threads 爆料連結丟進群的人。重視網路安全，主張「好聚好散不用互相攻擊」。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2871216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19" y="2962656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非洲獵人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19" y="3310128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19" y="3328416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事實查核・戰鬥力強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648456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與 HLK 車隊關係密切。10/15 凌晨親自查證封鎖線是謠言，成為扭轉風向的關鍵人物。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0" y="2871216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0" y="2962656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海月初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7030" y="3310128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0" y="3328416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溫和觀察者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0" y="3648456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發言持平、常整理資訊。金句「大人的恩怨大人自己處理，不要影響到小孩」代表多數中立家長心聲。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553712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4645152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櫻萬美夕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" y="4992624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" y="5010912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內幕補充者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" y="5330952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多次提供藍色車隊歷史脈絡（去年退隊潮、禁外練規定、老鷹車隊與場地恩怨）。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59" y="4553712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19" y="4645152"/>
            <a:ext cx="347471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545"/>
                </a:solidFill>
                <a:latin typeface="Microsoft JhengHei"/>
              </a:rPr>
              <a:t>吵架王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19" y="4992624"/>
            <a:ext cx="3474719" cy="274320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19" y="5010912"/>
            <a:ext cx="3474719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Microsoft JhengHei"/>
              </a:rPr>
              <a:t>輪迴論提出者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19" y="5330952"/>
            <a:ext cx="3474719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完整提出「啟蒙教練與家長的決裂輪迴」理論，成為群內解釋車隊恩怨的標準框架。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關係圖：誰跟誰有什麼糾葛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21792"/>
            <a:ext cx="10241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Microsoft JhengHei"/>
              </a:rPr>
              <a:t>箭頭方向＝「對」，右側說明＝關係內容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14 /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18872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88720"/>
            <a:ext cx="91440" cy="7772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371600"/>
            <a:ext cx="2286000" cy="402336"/>
          </a:xfrm>
          <a:prstGeom prst="roundRect">
            <a:avLst>
              <a:gd name="adj" fmla="val 4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389888"/>
            <a:ext cx="22860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2318"/>
                </a:solidFill>
                <a:latin typeface="Microsoft JhengHei"/>
              </a:rPr>
              <a:t>泳萱媽媽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371600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──決裂──▶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371600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389888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萌孩教練團（動物家族）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261872"/>
            <a:ext cx="8412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曾深度合作：媽媽制定隊規、辦活動、照顧隊員，換取免費跑台／輪組試用／保養。決裂點：資源說法從「免費」變「沒付錢」＋借錢爭議＋踢群。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039112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039112"/>
            <a:ext cx="91440" cy="77724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2221992"/>
            <a:ext cx="2286000" cy="402336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240280"/>
            <a:ext cx="22860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4708"/>
                </a:solidFill>
                <a:latin typeface="Microsoft JhengHei"/>
              </a:rPr>
              <a:t>泳萱媽媽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221992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──被踢──▶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221992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240280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小慧／彎道殺手帳號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112264"/>
            <a:ext cx="8412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媽媽指稱小慧自作主張踢她出車隊群組。10/13 彎道殺手進本群攻擊媽媽被圍剿秒退；媽媽隨後以本尊現身貼截圖指認。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2889504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2889504"/>
            <a:ext cx="91440" cy="77724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072384"/>
            <a:ext cx="2286000" cy="402336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090672"/>
            <a:ext cx="22860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4708"/>
                </a:solidFill>
                <a:latin typeface="Microsoft JhengHei"/>
              </a:rPr>
              <a:t>泳萱媽媽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72384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──呼籲──▶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3072384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3090672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檢舉教練公園上課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962656"/>
            <a:ext cx="8412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媽媽在 Threads 呼籲檢舉公有地違規收費上課 → 引發封鎖線謠言 → 被非洲獵人／盡力實地查證為假。南部群友擔心血洗場地。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3739896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739896"/>
            <a:ext cx="91440" cy="77724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3922776"/>
            <a:ext cx="2286000" cy="402336"/>
          </a:xfrm>
          <a:prstGeom prst="roundRect">
            <a:avLst>
              <a:gd name="adj" fmla="val 4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41064"/>
            <a:ext cx="22860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67647"/>
                </a:solidFill>
                <a:latin typeface="Microsoft JhengHei"/>
              </a:rPr>
              <a:t>檸檬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922776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──共鳴力挺──▶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3922776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3941064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泳萱媽媽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3813048"/>
            <a:ext cx="8412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檸檬自己也是「離隊後被前車隊造謠」的受害者，特別欣賞媽媽敢說出來的勇氣，但也呼籲「吃瓜就好」。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590288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4590288"/>
            <a:ext cx="91440" cy="777240"/>
          </a:xfrm>
          <a:prstGeom prst="rect">
            <a:avLst/>
          </a:prstGeom>
          <a:solidFill>
            <a:srgbClr val="694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94360" y="4773168"/>
            <a:ext cx="3108960" cy="402336"/>
          </a:xfrm>
          <a:prstGeom prst="roundRect">
            <a:avLst>
              <a:gd name="adj" fmla="val 40000"/>
            </a:avLst>
          </a:prstGeom>
          <a:solidFill>
            <a:srgbClr val="F2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791456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941C6"/>
                </a:solidFill>
                <a:latin typeface="Microsoft JhengHei"/>
              </a:rPr>
              <a:t>SSS／萬聖節快樂／嗯哼／67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4773168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──辯護／質疑──▶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4773168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4791456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萌孩車隊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4663440"/>
            <a:ext cx="75895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反方陣線：主張踢人是群主權利、媽媽證據不足、指控媽媽打小孩與過度訓練。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544068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" y="5440680"/>
            <a:ext cx="91440" cy="77724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94360" y="5623560"/>
            <a:ext cx="2286000" cy="402336"/>
          </a:xfrm>
          <a:prstGeom prst="roundRect">
            <a:avLst>
              <a:gd name="adj" fmla="val 4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641848"/>
            <a:ext cx="22860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67647"/>
                </a:solidFill>
                <a:latin typeface="Microsoft JhengHei"/>
              </a:rPr>
              <a:t>非洲獵人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623560"/>
            <a:ext cx="10515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──查證打臉──▶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23360" y="5623560"/>
            <a:ext cx="3017520" cy="402336"/>
          </a:xfrm>
          <a:prstGeom prst="roundRect">
            <a:avLst>
              <a:gd name="adj" fmla="val 4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0" y="5641848"/>
            <a:ext cx="30175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JhengHei"/>
              </a:rPr>
              <a:t>哇哈哈哈（封鎖線謠言）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8" y="5513832"/>
            <a:ext cx="8412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非洲獵人與 HLK 車隊關係密切，反感無辜車隊被拖下水。凌晨實地查證場地沒封鎖線，戳破謠言。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群組文化觀察：三個值得記住的現象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15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7455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0584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6FEB"/>
                </a:solidFill>
                <a:latin typeface="Microsoft JhengHei"/>
              </a:rPr>
              <a:t>現象一：「護衛隊」與「帶風向」的攻防戰術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64208"/>
            <a:ext cx="1069848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每次車隊爆發爭議，就會出現一批「護衛隊」（忠於教練的小齡家長）匿名進群攻擊爆料者。固定戰術被群友完整歸納：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① 進群先取針對性暱稱（如「彎道殺手」「好成績是打出來的」）→ ② 用「聽說」「我朋友說」開場、砲火猛烈但不給證據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→ ③ 被質疑「你怎麼知道那麼多」後跳針 → ④ 秒退聊天室，留下「圖還沒做好人就跑了」的笑柄。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群友反制：「你都在幕內了怎麼會不知道內幕」。這套攻防在 10/13 當天完整上演三次。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127455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00584" cy="169164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4708"/>
                </a:solidFill>
                <a:latin typeface="Microsoft JhengHei"/>
              </a:rPr>
              <a:t>現象二：羅生門下的「證據標準」大戰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1069848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萌孩事件的核心困境：爆料方拿得出截圖，防守方拿得出沉默。群友形成兩種判讀——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實質懷疑派（SSS、萬聖節快樂）：說被造謠卻沒有文字紀錄、說借錢卻秀不出借據、公開平台連名帶姓帶小孩＝證據不足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經驗共鳴派（檸檬、海月初、盡力）：造謠都是用說的哪裡有截圖、敢整理資料上來就很勇敢、不出來澄清就是理虧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沒有任何一方被完全說服，最終多數人選擇「吃瓜就好」。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00584" cy="146304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67647"/>
                </a:solidFill>
                <a:latin typeface="Microsoft JhengHei"/>
              </a:rPr>
              <a:t>現象三：靠北歸靠北，運動歸運動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8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儘管吵得不可開交，群組始終維持微妙平衡：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9527 在戰火最烈時依然穿插沖繩賽事報名連結，自嘲「靠北歸靠北，最後一天」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酸酸爸會在情緒升高時喊「攻擊大人可以，但不要散佈攻擊小孩的言論」</a:t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1A1D23"/>
                </a:solidFill>
                <a:latin typeface="Microsoft JhengHei"/>
              </a:rPr>
              <a:t>• 群組隔幾天就公告搬家（「本群明天要刪除」），顯示大家雖然愛吵，也清楚這是需要匿名與安全距離的空間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116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56692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D23"/>
                </a:solidFill>
                <a:latin typeface="Microsoft JhengHei"/>
              </a:rPr>
              <a:t>結論：如果只有 60 秒，記住這 6 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「靠北滑步車」LINE 群組話題分析報告｜紀錄期間 2026/09/24–10/15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472"/>
                </a:solidFill>
                <a:latin typeface="Microsoft JhengHei"/>
              </a:rPr>
              <a:t>16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353312"/>
            <a:ext cx="420624" cy="420624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37160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18872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這是一個台灣滑步車家長的匿名靠北群，3 週內從賽事閒聊一路吵到車隊決裂，最後連場地封鎖線都要實地查證。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" y="2176272"/>
            <a:ext cx="420624" cy="420624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9456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1168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主線事件是「萌小孩（藍色車隊）與招牌選手泳萱媽媽的決裂」：媽媽指控教練「免費變沒付錢、借錢不還、造謠、踢群」，教練方全程沉默。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2999232"/>
            <a:ext cx="420624" cy="420624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01752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83464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本尊親自進群對決是全事件最高潮：「彎道殺手」帳號開砲秒退後，「我就是泳萱媽媽」現身貼截圖，引爆吃瓜狂潮。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" y="38221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84048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「檢舉場地」是最具殺傷力的武器，也最容易失控：媽媽呼籲檢舉 → 傳出封鎖線 → 群友實地查證是謠言——資訊戰真假混雜。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1792" y="46451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66344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48056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所有人吵的其實是同一件事：滑步車圈的「車隊輪迴」——家長付出、孩子變強、跳槽決裂、互揭瘡疤，然後新一代家長再重演一次。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54681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486400"/>
            <a:ext cx="42062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303520"/>
            <a:ext cx="1037844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D23"/>
                </a:solidFill>
                <a:latin typeface="Microsoft JhengHei"/>
              </a:rPr>
              <a:t>背景陰影是整個生態在萎縮：參賽人數下滑、場地被檢舉越來越少、小孩上小學就退役——這才是群組裡所有焦慮的最終源頭。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206240"/>
            <a:ext cx="4023360" cy="402336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868680"/>
            <a:ext cx="3200400" cy="384048"/>
          </a:xfrm>
          <a:prstGeom prst="roundRect">
            <a:avLst>
              <a:gd name="adj" fmla="val 40000"/>
            </a:avLst>
          </a:prstGeom>
          <a:solidFill>
            <a:srgbClr val="2A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886968"/>
            <a:ext cx="3200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C542"/>
                </a:solidFill>
                <a:latin typeface="Microsoft JhengHei"/>
              </a:rPr>
              <a:t>給新進成員的提醒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綜合群友自身經驗的 4 條生存守則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377440"/>
            <a:ext cx="8165592" cy="749808"/>
          </a:xfrm>
          <a:prstGeom prst="roundRect">
            <a:avLst>
              <a:gd name="adj" fmla="val 12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523744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C542"/>
                </a:solidFill>
                <a:latin typeface="Microsoft Jheng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722376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這是羅生門，看完別急著站隊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255264"/>
            <a:ext cx="8165592" cy="749808"/>
          </a:xfrm>
          <a:prstGeom prst="roundRect">
            <a:avLst>
              <a:gd name="adj" fmla="val 12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340156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C542"/>
                </a:solidFill>
                <a:latin typeface="Microsoft JhengHe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255264"/>
            <a:ext cx="722376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「聽說」兩個字後面通常沒有證據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133088"/>
            <a:ext cx="8165592" cy="749808"/>
          </a:xfrm>
          <a:prstGeom prst="roundRect">
            <a:avLst>
              <a:gd name="adj" fmla="val 12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427939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C542"/>
                </a:solidFill>
                <a:latin typeface="Microsoft Jheng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133088"/>
            <a:ext cx="722376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任何車隊都會有恩怨，選適合自己的、好聚好散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010912"/>
            <a:ext cx="8165592" cy="749808"/>
          </a:xfrm>
          <a:prstGeom prst="roundRect">
            <a:avLst>
              <a:gd name="adj" fmla="val 12000"/>
            </a:avLst>
          </a:prstGeom>
          <a:solidFill>
            <a:srgbClr val="183863"/>
          </a:solidFill>
          <a:ln w="1524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5157216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C542"/>
                </a:solidFill>
                <a:latin typeface="Microsoft JhengHei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010912"/>
            <a:ext cx="722376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孩子是孩子，不是武器也不是賽馬——這是群內多數冷靜家長反覆強調的底線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FB8DC"/>
                </a:solidFill>
                <a:latin typeface="Microsoft JhengHei"/>
              </a:rPr>
              <a:t>報告僅呈現群組對話脈絡與各方說法，不代表對任何當事人之是非判定。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